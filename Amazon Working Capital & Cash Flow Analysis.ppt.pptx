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35DD43-CE8C-49BA-9026-4A96E7ED1F7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C710862-D627-450C-B007-EA68C0739F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Analyze Amazon-style working capital cycles using monthly operational data</a:t>
          </a:r>
        </a:p>
      </dgm:t>
    </dgm:pt>
    <dgm:pt modelId="{A8FF0EE1-D14C-49E8-93CA-8EA25275BA0E}" type="parTrans" cxnId="{D7E4B938-16F9-49A0-A75A-6A7A9B313977}">
      <dgm:prSet/>
      <dgm:spPr/>
      <dgm:t>
        <a:bodyPr/>
        <a:lstStyle/>
        <a:p>
          <a:endParaRPr lang="en-US"/>
        </a:p>
      </dgm:t>
    </dgm:pt>
    <dgm:pt modelId="{7F5A4019-694F-4733-8845-FD818C1D10FF}" type="sibTrans" cxnId="{D7E4B938-16F9-49A0-A75A-6A7A9B313977}">
      <dgm:prSet/>
      <dgm:spPr/>
      <dgm:t>
        <a:bodyPr/>
        <a:lstStyle/>
        <a:p>
          <a:endParaRPr lang="en-US"/>
        </a:p>
      </dgm:t>
    </dgm:pt>
    <dgm:pt modelId="{10414E06-A2EF-4897-A906-FD8AC0E7A3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Build a structured cash flow model (indirect method) tied to working capital</a:t>
          </a:r>
        </a:p>
      </dgm:t>
    </dgm:pt>
    <dgm:pt modelId="{B6E22963-FB00-4C85-A3BB-854CC1814B21}" type="parTrans" cxnId="{C08FB46A-0430-4A3C-94C6-6F2E5A6B4F79}">
      <dgm:prSet/>
      <dgm:spPr/>
      <dgm:t>
        <a:bodyPr/>
        <a:lstStyle/>
        <a:p>
          <a:endParaRPr lang="en-US"/>
        </a:p>
      </dgm:t>
    </dgm:pt>
    <dgm:pt modelId="{97630C53-247B-4F2C-B994-3D860C1B8E9D}" type="sibTrans" cxnId="{C08FB46A-0430-4A3C-94C6-6F2E5A6B4F79}">
      <dgm:prSet/>
      <dgm:spPr/>
      <dgm:t>
        <a:bodyPr/>
        <a:lstStyle/>
        <a:p>
          <a:endParaRPr lang="en-US"/>
        </a:p>
      </dgm:t>
    </dgm:pt>
    <dgm:pt modelId="{84E006ED-B9F8-40F1-9496-6921272881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Design an executive dashboard in Excel with key KPIs and visualizations</a:t>
          </a:r>
        </a:p>
      </dgm:t>
    </dgm:pt>
    <dgm:pt modelId="{AEF9170F-A477-4639-9612-CD0058A9CADB}" type="parTrans" cxnId="{33230D9D-F8C1-4F0B-BFA9-AF6BF390326A}">
      <dgm:prSet/>
      <dgm:spPr/>
      <dgm:t>
        <a:bodyPr/>
        <a:lstStyle/>
        <a:p>
          <a:endParaRPr lang="en-US"/>
        </a:p>
      </dgm:t>
    </dgm:pt>
    <dgm:pt modelId="{1F265609-C775-4937-857E-B595AAA2417A}" type="sibTrans" cxnId="{33230D9D-F8C1-4F0B-BFA9-AF6BF390326A}">
      <dgm:prSet/>
      <dgm:spPr/>
      <dgm:t>
        <a:bodyPr/>
        <a:lstStyle/>
        <a:p>
          <a:endParaRPr lang="en-US"/>
        </a:p>
      </dgm:t>
    </dgm:pt>
    <dgm:pt modelId="{5496F94D-6A16-4860-8891-6B82CEA0F1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Generate insights for liquidity, efficiency, and free cash flow optimization</a:t>
          </a:r>
        </a:p>
      </dgm:t>
    </dgm:pt>
    <dgm:pt modelId="{C2207F6F-B968-46EC-84B1-AFAF91B76C53}" type="parTrans" cxnId="{D4483ECD-03C5-485A-8F0B-0350FF6BA385}">
      <dgm:prSet/>
      <dgm:spPr/>
      <dgm:t>
        <a:bodyPr/>
        <a:lstStyle/>
        <a:p>
          <a:endParaRPr lang="en-US"/>
        </a:p>
      </dgm:t>
    </dgm:pt>
    <dgm:pt modelId="{E3005894-A770-46E9-8806-AD322146286D}" type="sibTrans" cxnId="{D4483ECD-03C5-485A-8F0B-0350FF6BA385}">
      <dgm:prSet/>
      <dgm:spPr/>
      <dgm:t>
        <a:bodyPr/>
        <a:lstStyle/>
        <a:p>
          <a:endParaRPr lang="en-US"/>
        </a:p>
      </dgm:t>
    </dgm:pt>
    <dgm:pt modelId="{A3CFB5B5-FAE3-40B6-9E26-CB0977D94955}" type="pres">
      <dgm:prSet presAssocID="{BF35DD43-CE8C-49BA-9026-4A96E7ED1F71}" presName="root" presStyleCnt="0">
        <dgm:presLayoutVars>
          <dgm:dir/>
          <dgm:resizeHandles val="exact"/>
        </dgm:presLayoutVars>
      </dgm:prSet>
      <dgm:spPr/>
    </dgm:pt>
    <dgm:pt modelId="{DF11B8D4-AEB9-49FC-92E0-4B9F326D02EF}" type="pres">
      <dgm:prSet presAssocID="{FC710862-D627-450C-B007-EA68C0739F4C}" presName="compNode" presStyleCnt="0"/>
      <dgm:spPr/>
    </dgm:pt>
    <dgm:pt modelId="{A56F38E1-02C6-40E4-AC82-B7830744A005}" type="pres">
      <dgm:prSet presAssocID="{FC710862-D627-450C-B007-EA68C0739F4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0CA63BFC-8BEF-4C1E-8E1D-F995C44E10C7}" type="pres">
      <dgm:prSet presAssocID="{FC710862-D627-450C-B007-EA68C0739F4C}" presName="spaceRect" presStyleCnt="0"/>
      <dgm:spPr/>
    </dgm:pt>
    <dgm:pt modelId="{212FA65F-E8A9-4731-92B2-3E24EB94DAFC}" type="pres">
      <dgm:prSet presAssocID="{FC710862-D627-450C-B007-EA68C0739F4C}" presName="textRect" presStyleLbl="revTx" presStyleIdx="0" presStyleCnt="4">
        <dgm:presLayoutVars>
          <dgm:chMax val="1"/>
          <dgm:chPref val="1"/>
        </dgm:presLayoutVars>
      </dgm:prSet>
      <dgm:spPr/>
    </dgm:pt>
    <dgm:pt modelId="{A3E7E823-7B1A-4EEB-97CC-6F72F6E0070B}" type="pres">
      <dgm:prSet presAssocID="{7F5A4019-694F-4733-8845-FD818C1D10FF}" presName="sibTrans" presStyleCnt="0"/>
      <dgm:spPr/>
    </dgm:pt>
    <dgm:pt modelId="{7E7CB547-41BD-421C-BD64-36ABFB0FBB4F}" type="pres">
      <dgm:prSet presAssocID="{10414E06-A2EF-4897-A906-FD8AC0E7A326}" presName="compNode" presStyleCnt="0"/>
      <dgm:spPr/>
    </dgm:pt>
    <dgm:pt modelId="{1183ACF5-B998-4DD4-BF61-7AD44FD13DEF}" type="pres">
      <dgm:prSet presAssocID="{10414E06-A2EF-4897-A906-FD8AC0E7A32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C88EBF4A-FCB5-4D3E-8CBA-079514D74243}" type="pres">
      <dgm:prSet presAssocID="{10414E06-A2EF-4897-A906-FD8AC0E7A326}" presName="spaceRect" presStyleCnt="0"/>
      <dgm:spPr/>
    </dgm:pt>
    <dgm:pt modelId="{C82EBFB7-23D9-40C4-9899-3F9662CCC17D}" type="pres">
      <dgm:prSet presAssocID="{10414E06-A2EF-4897-A906-FD8AC0E7A326}" presName="textRect" presStyleLbl="revTx" presStyleIdx="1" presStyleCnt="4">
        <dgm:presLayoutVars>
          <dgm:chMax val="1"/>
          <dgm:chPref val="1"/>
        </dgm:presLayoutVars>
      </dgm:prSet>
      <dgm:spPr/>
    </dgm:pt>
    <dgm:pt modelId="{EE0377FF-14D0-4BE4-BED7-A96D6B990050}" type="pres">
      <dgm:prSet presAssocID="{97630C53-247B-4F2C-B994-3D860C1B8E9D}" presName="sibTrans" presStyleCnt="0"/>
      <dgm:spPr/>
    </dgm:pt>
    <dgm:pt modelId="{686B15C7-569A-4AF2-8E2C-0502E5392AED}" type="pres">
      <dgm:prSet presAssocID="{84E006ED-B9F8-40F1-9496-692127288177}" presName="compNode" presStyleCnt="0"/>
      <dgm:spPr/>
    </dgm:pt>
    <dgm:pt modelId="{901B1A9F-5C6F-47D9-A3B5-BC81C2E1BED1}" type="pres">
      <dgm:prSet presAssocID="{84E006ED-B9F8-40F1-9496-69212728817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31BBF92-8830-4B55-88EA-A1FCB9903FA7}" type="pres">
      <dgm:prSet presAssocID="{84E006ED-B9F8-40F1-9496-692127288177}" presName="spaceRect" presStyleCnt="0"/>
      <dgm:spPr/>
    </dgm:pt>
    <dgm:pt modelId="{84A46988-DF08-4209-BB0B-EFBEB5F593A3}" type="pres">
      <dgm:prSet presAssocID="{84E006ED-B9F8-40F1-9496-692127288177}" presName="textRect" presStyleLbl="revTx" presStyleIdx="2" presStyleCnt="4">
        <dgm:presLayoutVars>
          <dgm:chMax val="1"/>
          <dgm:chPref val="1"/>
        </dgm:presLayoutVars>
      </dgm:prSet>
      <dgm:spPr/>
    </dgm:pt>
    <dgm:pt modelId="{1DF12832-D639-4BFE-A05A-7410FB9095B1}" type="pres">
      <dgm:prSet presAssocID="{1F265609-C775-4937-857E-B595AAA2417A}" presName="sibTrans" presStyleCnt="0"/>
      <dgm:spPr/>
    </dgm:pt>
    <dgm:pt modelId="{1E35386A-D06D-43EE-8CF6-DF18D83F7F0B}" type="pres">
      <dgm:prSet presAssocID="{5496F94D-6A16-4860-8891-6B82CEA0F11F}" presName="compNode" presStyleCnt="0"/>
      <dgm:spPr/>
    </dgm:pt>
    <dgm:pt modelId="{58B5172C-BB16-4313-9A54-0904A6DCF04A}" type="pres">
      <dgm:prSet presAssocID="{5496F94D-6A16-4860-8891-6B82CEA0F11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D5E5D437-6ACE-4318-9B26-34C0BC060E84}" type="pres">
      <dgm:prSet presAssocID="{5496F94D-6A16-4860-8891-6B82CEA0F11F}" presName="spaceRect" presStyleCnt="0"/>
      <dgm:spPr/>
    </dgm:pt>
    <dgm:pt modelId="{F18C08E7-262F-4E35-9F3C-BD72AE417BF1}" type="pres">
      <dgm:prSet presAssocID="{5496F94D-6A16-4860-8891-6B82CEA0F11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8F25C1D-FB23-4E28-832D-15B1480CD7F9}" type="presOf" srcId="{FC710862-D627-450C-B007-EA68C0739F4C}" destId="{212FA65F-E8A9-4731-92B2-3E24EB94DAFC}" srcOrd="0" destOrd="0" presId="urn:microsoft.com/office/officeart/2018/2/layout/IconLabelList"/>
    <dgm:cxn modelId="{D7E4B938-16F9-49A0-A75A-6A7A9B313977}" srcId="{BF35DD43-CE8C-49BA-9026-4A96E7ED1F71}" destId="{FC710862-D627-450C-B007-EA68C0739F4C}" srcOrd="0" destOrd="0" parTransId="{A8FF0EE1-D14C-49E8-93CA-8EA25275BA0E}" sibTransId="{7F5A4019-694F-4733-8845-FD818C1D10FF}"/>
    <dgm:cxn modelId="{C08FB46A-0430-4A3C-94C6-6F2E5A6B4F79}" srcId="{BF35DD43-CE8C-49BA-9026-4A96E7ED1F71}" destId="{10414E06-A2EF-4897-A906-FD8AC0E7A326}" srcOrd="1" destOrd="0" parTransId="{B6E22963-FB00-4C85-A3BB-854CC1814B21}" sibTransId="{97630C53-247B-4F2C-B994-3D860C1B8E9D}"/>
    <dgm:cxn modelId="{F692557F-F3C3-494F-8D67-EE6CCDC9FD9D}" type="presOf" srcId="{5496F94D-6A16-4860-8891-6B82CEA0F11F}" destId="{F18C08E7-262F-4E35-9F3C-BD72AE417BF1}" srcOrd="0" destOrd="0" presId="urn:microsoft.com/office/officeart/2018/2/layout/IconLabelList"/>
    <dgm:cxn modelId="{33230D9D-F8C1-4F0B-BFA9-AF6BF390326A}" srcId="{BF35DD43-CE8C-49BA-9026-4A96E7ED1F71}" destId="{84E006ED-B9F8-40F1-9496-692127288177}" srcOrd="2" destOrd="0" parTransId="{AEF9170F-A477-4639-9612-CD0058A9CADB}" sibTransId="{1F265609-C775-4937-857E-B595AAA2417A}"/>
    <dgm:cxn modelId="{597054C0-686B-4292-92CA-643966FE0203}" type="presOf" srcId="{10414E06-A2EF-4897-A906-FD8AC0E7A326}" destId="{C82EBFB7-23D9-40C4-9899-3F9662CCC17D}" srcOrd="0" destOrd="0" presId="urn:microsoft.com/office/officeart/2018/2/layout/IconLabelList"/>
    <dgm:cxn modelId="{D4483ECD-03C5-485A-8F0B-0350FF6BA385}" srcId="{BF35DD43-CE8C-49BA-9026-4A96E7ED1F71}" destId="{5496F94D-6A16-4860-8891-6B82CEA0F11F}" srcOrd="3" destOrd="0" parTransId="{C2207F6F-B968-46EC-84B1-AFAF91B76C53}" sibTransId="{E3005894-A770-46E9-8806-AD322146286D}"/>
    <dgm:cxn modelId="{D5A0CBCD-4C44-4F74-BA89-6E1E2FEE657A}" type="presOf" srcId="{BF35DD43-CE8C-49BA-9026-4A96E7ED1F71}" destId="{A3CFB5B5-FAE3-40B6-9E26-CB0977D94955}" srcOrd="0" destOrd="0" presId="urn:microsoft.com/office/officeart/2018/2/layout/IconLabelList"/>
    <dgm:cxn modelId="{69AF09DB-EF79-4AA7-89E2-6BA22771FF4D}" type="presOf" srcId="{84E006ED-B9F8-40F1-9496-692127288177}" destId="{84A46988-DF08-4209-BB0B-EFBEB5F593A3}" srcOrd="0" destOrd="0" presId="urn:microsoft.com/office/officeart/2018/2/layout/IconLabelList"/>
    <dgm:cxn modelId="{BC2C1B06-C0D5-4E00-9E8F-0A99A977ABE3}" type="presParOf" srcId="{A3CFB5B5-FAE3-40B6-9E26-CB0977D94955}" destId="{DF11B8D4-AEB9-49FC-92E0-4B9F326D02EF}" srcOrd="0" destOrd="0" presId="urn:microsoft.com/office/officeart/2018/2/layout/IconLabelList"/>
    <dgm:cxn modelId="{1F116B29-D5B5-40D4-AE84-ADA40B10C0AF}" type="presParOf" srcId="{DF11B8D4-AEB9-49FC-92E0-4B9F326D02EF}" destId="{A56F38E1-02C6-40E4-AC82-B7830744A005}" srcOrd="0" destOrd="0" presId="urn:microsoft.com/office/officeart/2018/2/layout/IconLabelList"/>
    <dgm:cxn modelId="{9E476C26-429E-4EC6-8DF4-9F471E21AEA5}" type="presParOf" srcId="{DF11B8D4-AEB9-49FC-92E0-4B9F326D02EF}" destId="{0CA63BFC-8BEF-4C1E-8E1D-F995C44E10C7}" srcOrd="1" destOrd="0" presId="urn:microsoft.com/office/officeart/2018/2/layout/IconLabelList"/>
    <dgm:cxn modelId="{F2CC9624-743E-46E7-A224-44B05B7614A7}" type="presParOf" srcId="{DF11B8D4-AEB9-49FC-92E0-4B9F326D02EF}" destId="{212FA65F-E8A9-4731-92B2-3E24EB94DAFC}" srcOrd="2" destOrd="0" presId="urn:microsoft.com/office/officeart/2018/2/layout/IconLabelList"/>
    <dgm:cxn modelId="{AB124FA9-5147-4FD9-8830-A50A94058D21}" type="presParOf" srcId="{A3CFB5B5-FAE3-40B6-9E26-CB0977D94955}" destId="{A3E7E823-7B1A-4EEB-97CC-6F72F6E0070B}" srcOrd="1" destOrd="0" presId="urn:microsoft.com/office/officeart/2018/2/layout/IconLabelList"/>
    <dgm:cxn modelId="{7668FC65-AC19-41F8-A3DC-8FF254EAA284}" type="presParOf" srcId="{A3CFB5B5-FAE3-40B6-9E26-CB0977D94955}" destId="{7E7CB547-41BD-421C-BD64-36ABFB0FBB4F}" srcOrd="2" destOrd="0" presId="urn:microsoft.com/office/officeart/2018/2/layout/IconLabelList"/>
    <dgm:cxn modelId="{981CB471-5011-4416-B2D1-6E451B41F15C}" type="presParOf" srcId="{7E7CB547-41BD-421C-BD64-36ABFB0FBB4F}" destId="{1183ACF5-B998-4DD4-BF61-7AD44FD13DEF}" srcOrd="0" destOrd="0" presId="urn:microsoft.com/office/officeart/2018/2/layout/IconLabelList"/>
    <dgm:cxn modelId="{A71CB183-8921-4B3E-9A61-193E9C84A713}" type="presParOf" srcId="{7E7CB547-41BD-421C-BD64-36ABFB0FBB4F}" destId="{C88EBF4A-FCB5-4D3E-8CBA-079514D74243}" srcOrd="1" destOrd="0" presId="urn:microsoft.com/office/officeart/2018/2/layout/IconLabelList"/>
    <dgm:cxn modelId="{5EB55661-ABD4-4E10-89DE-D9689C816156}" type="presParOf" srcId="{7E7CB547-41BD-421C-BD64-36ABFB0FBB4F}" destId="{C82EBFB7-23D9-40C4-9899-3F9662CCC17D}" srcOrd="2" destOrd="0" presId="urn:microsoft.com/office/officeart/2018/2/layout/IconLabelList"/>
    <dgm:cxn modelId="{33669CDE-CE06-438A-979F-300B185D7179}" type="presParOf" srcId="{A3CFB5B5-FAE3-40B6-9E26-CB0977D94955}" destId="{EE0377FF-14D0-4BE4-BED7-A96D6B990050}" srcOrd="3" destOrd="0" presId="urn:microsoft.com/office/officeart/2018/2/layout/IconLabelList"/>
    <dgm:cxn modelId="{79D57BAC-B013-421F-B891-7E661A2CFB84}" type="presParOf" srcId="{A3CFB5B5-FAE3-40B6-9E26-CB0977D94955}" destId="{686B15C7-569A-4AF2-8E2C-0502E5392AED}" srcOrd="4" destOrd="0" presId="urn:microsoft.com/office/officeart/2018/2/layout/IconLabelList"/>
    <dgm:cxn modelId="{27CA174A-C1E5-452E-B7A7-5D0F6A473B75}" type="presParOf" srcId="{686B15C7-569A-4AF2-8E2C-0502E5392AED}" destId="{901B1A9F-5C6F-47D9-A3B5-BC81C2E1BED1}" srcOrd="0" destOrd="0" presId="urn:microsoft.com/office/officeart/2018/2/layout/IconLabelList"/>
    <dgm:cxn modelId="{A1C38E06-2D1E-4E5B-88BF-D760EB60A4CC}" type="presParOf" srcId="{686B15C7-569A-4AF2-8E2C-0502E5392AED}" destId="{931BBF92-8830-4B55-88EA-A1FCB9903FA7}" srcOrd="1" destOrd="0" presId="urn:microsoft.com/office/officeart/2018/2/layout/IconLabelList"/>
    <dgm:cxn modelId="{F3C8A8B1-BAD8-4352-BDC4-0E66EC11B177}" type="presParOf" srcId="{686B15C7-569A-4AF2-8E2C-0502E5392AED}" destId="{84A46988-DF08-4209-BB0B-EFBEB5F593A3}" srcOrd="2" destOrd="0" presId="urn:microsoft.com/office/officeart/2018/2/layout/IconLabelList"/>
    <dgm:cxn modelId="{F50384A6-A93E-426A-AE6C-A90D0B9905F8}" type="presParOf" srcId="{A3CFB5B5-FAE3-40B6-9E26-CB0977D94955}" destId="{1DF12832-D639-4BFE-A05A-7410FB9095B1}" srcOrd="5" destOrd="0" presId="urn:microsoft.com/office/officeart/2018/2/layout/IconLabelList"/>
    <dgm:cxn modelId="{7C0677D1-EEC0-4C28-B37F-64891518138F}" type="presParOf" srcId="{A3CFB5B5-FAE3-40B6-9E26-CB0977D94955}" destId="{1E35386A-D06D-43EE-8CF6-DF18D83F7F0B}" srcOrd="6" destOrd="0" presId="urn:microsoft.com/office/officeart/2018/2/layout/IconLabelList"/>
    <dgm:cxn modelId="{80B95589-549B-4920-9204-829C9BD11788}" type="presParOf" srcId="{1E35386A-D06D-43EE-8CF6-DF18D83F7F0B}" destId="{58B5172C-BB16-4313-9A54-0904A6DCF04A}" srcOrd="0" destOrd="0" presId="urn:microsoft.com/office/officeart/2018/2/layout/IconLabelList"/>
    <dgm:cxn modelId="{131C27B0-D955-4080-AAD9-627C713DCB62}" type="presParOf" srcId="{1E35386A-D06D-43EE-8CF6-DF18D83F7F0B}" destId="{D5E5D437-6ACE-4318-9B26-34C0BC060E84}" srcOrd="1" destOrd="0" presId="urn:microsoft.com/office/officeart/2018/2/layout/IconLabelList"/>
    <dgm:cxn modelId="{39B4D94D-66D8-4545-B7A6-25CA073A8867}" type="presParOf" srcId="{1E35386A-D06D-43EE-8CF6-DF18D83F7F0B}" destId="{F18C08E7-262F-4E35-9F3C-BD72AE417BF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61C6F0-C876-4754-A6B5-3072080CE380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F5DE40D-C07F-49AB-81BB-8321AB583CBB}">
      <dgm:prSet/>
      <dgm:spPr/>
      <dgm:t>
        <a:bodyPr/>
        <a:lstStyle/>
        <a:p>
          <a:r>
            <a:rPr lang="en-US"/>
            <a:t>Net working capital trend line across 12 months</a:t>
          </a:r>
        </a:p>
      </dgm:t>
    </dgm:pt>
    <dgm:pt modelId="{F348FB28-D916-4B6F-8E2F-23756BDC67F9}" type="parTrans" cxnId="{29C9F89A-1063-4CC4-8033-FB7CC6C4A3FB}">
      <dgm:prSet/>
      <dgm:spPr/>
      <dgm:t>
        <a:bodyPr/>
        <a:lstStyle/>
        <a:p>
          <a:endParaRPr lang="en-US"/>
        </a:p>
      </dgm:t>
    </dgm:pt>
    <dgm:pt modelId="{E07405E7-8D4F-493E-A516-2DE2510D0DCA}" type="sibTrans" cxnId="{29C9F89A-1063-4CC4-8033-FB7CC6C4A3FB}">
      <dgm:prSet/>
      <dgm:spPr/>
      <dgm:t>
        <a:bodyPr/>
        <a:lstStyle/>
        <a:p>
          <a:endParaRPr lang="en-US"/>
        </a:p>
      </dgm:t>
    </dgm:pt>
    <dgm:pt modelId="{C81555EE-8898-421F-97C0-93EDBB851C6D}">
      <dgm:prSet/>
      <dgm:spPr/>
      <dgm:t>
        <a:bodyPr/>
        <a:lstStyle/>
        <a:p>
          <a:r>
            <a:rPr lang="en-US"/>
            <a:t>Revenue vs free cash flow dual-axis chart</a:t>
          </a:r>
        </a:p>
      </dgm:t>
    </dgm:pt>
    <dgm:pt modelId="{3C65C1B6-8099-4A67-8976-EA15A1C7EC04}" type="parTrans" cxnId="{23C2BBDB-3E5F-403D-9A37-20DD04528AB3}">
      <dgm:prSet/>
      <dgm:spPr/>
      <dgm:t>
        <a:bodyPr/>
        <a:lstStyle/>
        <a:p>
          <a:endParaRPr lang="en-US"/>
        </a:p>
      </dgm:t>
    </dgm:pt>
    <dgm:pt modelId="{9D26513E-E1A0-420C-A255-0EB11272C5C1}" type="sibTrans" cxnId="{23C2BBDB-3E5F-403D-9A37-20DD04528AB3}">
      <dgm:prSet/>
      <dgm:spPr/>
      <dgm:t>
        <a:bodyPr/>
        <a:lstStyle/>
        <a:p>
          <a:endParaRPr lang="en-US"/>
        </a:p>
      </dgm:t>
    </dgm:pt>
    <dgm:pt modelId="{641B437F-0863-46F5-90C7-AEBD9CEF43B5}">
      <dgm:prSet/>
      <dgm:spPr/>
      <dgm:t>
        <a:bodyPr/>
        <a:lstStyle/>
        <a:p>
          <a:r>
            <a:rPr lang="en-US"/>
            <a:t>Breakdown of AR, Inventory, and AP over time</a:t>
          </a:r>
        </a:p>
      </dgm:t>
    </dgm:pt>
    <dgm:pt modelId="{59FB4D68-A495-4CB0-A363-D312C80E37A8}" type="parTrans" cxnId="{FAAC77CC-29E1-414E-9F91-63FD81C729F8}">
      <dgm:prSet/>
      <dgm:spPr/>
      <dgm:t>
        <a:bodyPr/>
        <a:lstStyle/>
        <a:p>
          <a:endParaRPr lang="en-US"/>
        </a:p>
      </dgm:t>
    </dgm:pt>
    <dgm:pt modelId="{803C3A60-D2AE-48B7-BD4F-CE0CF9F20770}" type="sibTrans" cxnId="{FAAC77CC-29E1-414E-9F91-63FD81C729F8}">
      <dgm:prSet/>
      <dgm:spPr/>
      <dgm:t>
        <a:bodyPr/>
        <a:lstStyle/>
        <a:p>
          <a:endParaRPr lang="en-US"/>
        </a:p>
      </dgm:t>
    </dgm:pt>
    <dgm:pt modelId="{23B8F301-99DE-40F4-9FD1-10890231168B}">
      <dgm:prSet/>
      <dgm:spPr/>
      <dgm:t>
        <a:bodyPr/>
        <a:lstStyle/>
        <a:p>
          <a:r>
            <a:rPr lang="en-US"/>
            <a:t>Summary KPI panel: total revenue, average NWC, total free cash flow</a:t>
          </a:r>
        </a:p>
      </dgm:t>
    </dgm:pt>
    <dgm:pt modelId="{71D3E5B2-500C-4042-9021-4CA89A686B91}" type="parTrans" cxnId="{71D458D5-6BF9-4134-91DD-D62F0C996941}">
      <dgm:prSet/>
      <dgm:spPr/>
      <dgm:t>
        <a:bodyPr/>
        <a:lstStyle/>
        <a:p>
          <a:endParaRPr lang="en-US"/>
        </a:p>
      </dgm:t>
    </dgm:pt>
    <dgm:pt modelId="{7A945F98-47BC-4AE9-A59D-B0ED3AB6747B}" type="sibTrans" cxnId="{71D458D5-6BF9-4134-91DD-D62F0C996941}">
      <dgm:prSet/>
      <dgm:spPr/>
      <dgm:t>
        <a:bodyPr/>
        <a:lstStyle/>
        <a:p>
          <a:endParaRPr lang="en-US"/>
        </a:p>
      </dgm:t>
    </dgm:pt>
    <dgm:pt modelId="{E9510D14-BDC9-49A8-95B0-FC9EEE2424E0}" type="pres">
      <dgm:prSet presAssocID="{0C61C6F0-C876-4754-A6B5-3072080CE380}" presName="outerComposite" presStyleCnt="0">
        <dgm:presLayoutVars>
          <dgm:chMax val="5"/>
          <dgm:dir/>
          <dgm:resizeHandles val="exact"/>
        </dgm:presLayoutVars>
      </dgm:prSet>
      <dgm:spPr/>
    </dgm:pt>
    <dgm:pt modelId="{A43A3412-C14A-43D8-B6E7-66BF53B5C42F}" type="pres">
      <dgm:prSet presAssocID="{0C61C6F0-C876-4754-A6B5-3072080CE380}" presName="dummyMaxCanvas" presStyleCnt="0">
        <dgm:presLayoutVars/>
      </dgm:prSet>
      <dgm:spPr/>
    </dgm:pt>
    <dgm:pt modelId="{1F55066D-ECC0-45E6-A624-7762125D113E}" type="pres">
      <dgm:prSet presAssocID="{0C61C6F0-C876-4754-A6B5-3072080CE380}" presName="FourNodes_1" presStyleLbl="node1" presStyleIdx="0" presStyleCnt="4">
        <dgm:presLayoutVars>
          <dgm:bulletEnabled val="1"/>
        </dgm:presLayoutVars>
      </dgm:prSet>
      <dgm:spPr/>
    </dgm:pt>
    <dgm:pt modelId="{AB8CF998-F82B-41B7-AD29-BC8E4CEBC040}" type="pres">
      <dgm:prSet presAssocID="{0C61C6F0-C876-4754-A6B5-3072080CE380}" presName="FourNodes_2" presStyleLbl="node1" presStyleIdx="1" presStyleCnt="4">
        <dgm:presLayoutVars>
          <dgm:bulletEnabled val="1"/>
        </dgm:presLayoutVars>
      </dgm:prSet>
      <dgm:spPr/>
    </dgm:pt>
    <dgm:pt modelId="{BE2CC683-2185-440B-AEA1-ED709F470788}" type="pres">
      <dgm:prSet presAssocID="{0C61C6F0-C876-4754-A6B5-3072080CE380}" presName="FourNodes_3" presStyleLbl="node1" presStyleIdx="2" presStyleCnt="4">
        <dgm:presLayoutVars>
          <dgm:bulletEnabled val="1"/>
        </dgm:presLayoutVars>
      </dgm:prSet>
      <dgm:spPr/>
    </dgm:pt>
    <dgm:pt modelId="{81BCB7C4-3684-42A1-989A-11A0FC284FB1}" type="pres">
      <dgm:prSet presAssocID="{0C61C6F0-C876-4754-A6B5-3072080CE380}" presName="FourNodes_4" presStyleLbl="node1" presStyleIdx="3" presStyleCnt="4">
        <dgm:presLayoutVars>
          <dgm:bulletEnabled val="1"/>
        </dgm:presLayoutVars>
      </dgm:prSet>
      <dgm:spPr/>
    </dgm:pt>
    <dgm:pt modelId="{5FE8D09E-1019-4EF7-B00F-023E1A26EA90}" type="pres">
      <dgm:prSet presAssocID="{0C61C6F0-C876-4754-A6B5-3072080CE380}" presName="FourConn_1-2" presStyleLbl="fgAccFollowNode1" presStyleIdx="0" presStyleCnt="3">
        <dgm:presLayoutVars>
          <dgm:bulletEnabled val="1"/>
        </dgm:presLayoutVars>
      </dgm:prSet>
      <dgm:spPr/>
    </dgm:pt>
    <dgm:pt modelId="{993AF401-FC87-48C9-96F9-AB061733CAB5}" type="pres">
      <dgm:prSet presAssocID="{0C61C6F0-C876-4754-A6B5-3072080CE380}" presName="FourConn_2-3" presStyleLbl="fgAccFollowNode1" presStyleIdx="1" presStyleCnt="3">
        <dgm:presLayoutVars>
          <dgm:bulletEnabled val="1"/>
        </dgm:presLayoutVars>
      </dgm:prSet>
      <dgm:spPr/>
    </dgm:pt>
    <dgm:pt modelId="{EC0BD62B-2E9E-4471-A61E-861954953B47}" type="pres">
      <dgm:prSet presAssocID="{0C61C6F0-C876-4754-A6B5-3072080CE380}" presName="FourConn_3-4" presStyleLbl="fgAccFollowNode1" presStyleIdx="2" presStyleCnt="3">
        <dgm:presLayoutVars>
          <dgm:bulletEnabled val="1"/>
        </dgm:presLayoutVars>
      </dgm:prSet>
      <dgm:spPr/>
    </dgm:pt>
    <dgm:pt modelId="{33CEABD8-D100-4A9B-A35B-1FB3E94646A2}" type="pres">
      <dgm:prSet presAssocID="{0C61C6F0-C876-4754-A6B5-3072080CE380}" presName="FourNodes_1_text" presStyleLbl="node1" presStyleIdx="3" presStyleCnt="4">
        <dgm:presLayoutVars>
          <dgm:bulletEnabled val="1"/>
        </dgm:presLayoutVars>
      </dgm:prSet>
      <dgm:spPr/>
    </dgm:pt>
    <dgm:pt modelId="{A58893FE-297E-40A6-9665-7321863233EA}" type="pres">
      <dgm:prSet presAssocID="{0C61C6F0-C876-4754-A6B5-3072080CE380}" presName="FourNodes_2_text" presStyleLbl="node1" presStyleIdx="3" presStyleCnt="4">
        <dgm:presLayoutVars>
          <dgm:bulletEnabled val="1"/>
        </dgm:presLayoutVars>
      </dgm:prSet>
      <dgm:spPr/>
    </dgm:pt>
    <dgm:pt modelId="{751F71A6-F7AF-4C66-9BF8-090CC2C68BD4}" type="pres">
      <dgm:prSet presAssocID="{0C61C6F0-C876-4754-A6B5-3072080CE380}" presName="FourNodes_3_text" presStyleLbl="node1" presStyleIdx="3" presStyleCnt="4">
        <dgm:presLayoutVars>
          <dgm:bulletEnabled val="1"/>
        </dgm:presLayoutVars>
      </dgm:prSet>
      <dgm:spPr/>
    </dgm:pt>
    <dgm:pt modelId="{22259D63-30CE-47F1-A044-8E3DC60ABE5E}" type="pres">
      <dgm:prSet presAssocID="{0C61C6F0-C876-4754-A6B5-3072080CE380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2C86D704-BAB9-4886-9A40-7B26C6A8833E}" type="presOf" srcId="{E07405E7-8D4F-493E-A516-2DE2510D0DCA}" destId="{5FE8D09E-1019-4EF7-B00F-023E1A26EA90}" srcOrd="0" destOrd="0" presId="urn:microsoft.com/office/officeart/2005/8/layout/vProcess5"/>
    <dgm:cxn modelId="{7417721F-B781-4A14-A490-B2ABD566FD84}" type="presOf" srcId="{23B8F301-99DE-40F4-9FD1-10890231168B}" destId="{22259D63-30CE-47F1-A044-8E3DC60ABE5E}" srcOrd="1" destOrd="0" presId="urn:microsoft.com/office/officeart/2005/8/layout/vProcess5"/>
    <dgm:cxn modelId="{FE7D4327-1383-4D49-B035-A60323DF8093}" type="presOf" srcId="{23B8F301-99DE-40F4-9FD1-10890231168B}" destId="{81BCB7C4-3684-42A1-989A-11A0FC284FB1}" srcOrd="0" destOrd="0" presId="urn:microsoft.com/office/officeart/2005/8/layout/vProcess5"/>
    <dgm:cxn modelId="{C3C6F749-CEAB-4D62-9339-5D32ADC6148F}" type="presOf" srcId="{641B437F-0863-46F5-90C7-AEBD9CEF43B5}" destId="{751F71A6-F7AF-4C66-9BF8-090CC2C68BD4}" srcOrd="1" destOrd="0" presId="urn:microsoft.com/office/officeart/2005/8/layout/vProcess5"/>
    <dgm:cxn modelId="{CE50E94A-479B-4C5F-BD94-2C86EBA10B48}" type="presOf" srcId="{9F5DE40D-C07F-49AB-81BB-8321AB583CBB}" destId="{33CEABD8-D100-4A9B-A35B-1FB3E94646A2}" srcOrd="1" destOrd="0" presId="urn:microsoft.com/office/officeart/2005/8/layout/vProcess5"/>
    <dgm:cxn modelId="{8566804E-D770-44A3-9706-AC80C538CC1A}" type="presOf" srcId="{641B437F-0863-46F5-90C7-AEBD9CEF43B5}" destId="{BE2CC683-2185-440B-AEA1-ED709F470788}" srcOrd="0" destOrd="0" presId="urn:microsoft.com/office/officeart/2005/8/layout/vProcess5"/>
    <dgm:cxn modelId="{6172F28C-71B2-48D3-9BAA-6759CCC6F5CD}" type="presOf" srcId="{C81555EE-8898-421F-97C0-93EDBB851C6D}" destId="{AB8CF998-F82B-41B7-AD29-BC8E4CEBC040}" srcOrd="0" destOrd="0" presId="urn:microsoft.com/office/officeart/2005/8/layout/vProcess5"/>
    <dgm:cxn modelId="{29C9F89A-1063-4CC4-8033-FB7CC6C4A3FB}" srcId="{0C61C6F0-C876-4754-A6B5-3072080CE380}" destId="{9F5DE40D-C07F-49AB-81BB-8321AB583CBB}" srcOrd="0" destOrd="0" parTransId="{F348FB28-D916-4B6F-8E2F-23756BDC67F9}" sibTransId="{E07405E7-8D4F-493E-A516-2DE2510D0DCA}"/>
    <dgm:cxn modelId="{A0F7EA9E-3CFF-433F-84B1-A88DEF964845}" type="presOf" srcId="{9F5DE40D-C07F-49AB-81BB-8321AB583CBB}" destId="{1F55066D-ECC0-45E6-A624-7762125D113E}" srcOrd="0" destOrd="0" presId="urn:microsoft.com/office/officeart/2005/8/layout/vProcess5"/>
    <dgm:cxn modelId="{64EA5BBF-F01D-44EE-8410-BC46303BB322}" type="presOf" srcId="{803C3A60-D2AE-48B7-BD4F-CE0CF9F20770}" destId="{EC0BD62B-2E9E-4471-A61E-861954953B47}" srcOrd="0" destOrd="0" presId="urn:microsoft.com/office/officeart/2005/8/layout/vProcess5"/>
    <dgm:cxn modelId="{FAAC77CC-29E1-414E-9F91-63FD81C729F8}" srcId="{0C61C6F0-C876-4754-A6B5-3072080CE380}" destId="{641B437F-0863-46F5-90C7-AEBD9CEF43B5}" srcOrd="2" destOrd="0" parTransId="{59FB4D68-A495-4CB0-A363-D312C80E37A8}" sibTransId="{803C3A60-D2AE-48B7-BD4F-CE0CF9F20770}"/>
    <dgm:cxn modelId="{71D458D5-6BF9-4134-91DD-D62F0C996941}" srcId="{0C61C6F0-C876-4754-A6B5-3072080CE380}" destId="{23B8F301-99DE-40F4-9FD1-10890231168B}" srcOrd="3" destOrd="0" parTransId="{71D3E5B2-500C-4042-9021-4CA89A686B91}" sibTransId="{7A945F98-47BC-4AE9-A59D-B0ED3AB6747B}"/>
    <dgm:cxn modelId="{81D34FDA-8B90-403A-A4A5-A19258369A35}" type="presOf" srcId="{0C61C6F0-C876-4754-A6B5-3072080CE380}" destId="{E9510D14-BDC9-49A8-95B0-FC9EEE2424E0}" srcOrd="0" destOrd="0" presId="urn:microsoft.com/office/officeart/2005/8/layout/vProcess5"/>
    <dgm:cxn modelId="{23C2BBDB-3E5F-403D-9A37-20DD04528AB3}" srcId="{0C61C6F0-C876-4754-A6B5-3072080CE380}" destId="{C81555EE-8898-421F-97C0-93EDBB851C6D}" srcOrd="1" destOrd="0" parTransId="{3C65C1B6-8099-4A67-8976-EA15A1C7EC04}" sibTransId="{9D26513E-E1A0-420C-A255-0EB11272C5C1}"/>
    <dgm:cxn modelId="{0AB094F5-22A3-42C4-8F70-805778722693}" type="presOf" srcId="{9D26513E-E1A0-420C-A255-0EB11272C5C1}" destId="{993AF401-FC87-48C9-96F9-AB061733CAB5}" srcOrd="0" destOrd="0" presId="urn:microsoft.com/office/officeart/2005/8/layout/vProcess5"/>
    <dgm:cxn modelId="{18738EFF-7637-417B-9430-45F8550F3155}" type="presOf" srcId="{C81555EE-8898-421F-97C0-93EDBB851C6D}" destId="{A58893FE-297E-40A6-9665-7321863233EA}" srcOrd="1" destOrd="0" presId="urn:microsoft.com/office/officeart/2005/8/layout/vProcess5"/>
    <dgm:cxn modelId="{63DA4E79-B530-4BF9-94F3-DB113CFC12F2}" type="presParOf" srcId="{E9510D14-BDC9-49A8-95B0-FC9EEE2424E0}" destId="{A43A3412-C14A-43D8-B6E7-66BF53B5C42F}" srcOrd="0" destOrd="0" presId="urn:microsoft.com/office/officeart/2005/8/layout/vProcess5"/>
    <dgm:cxn modelId="{7DA56E67-4D94-407B-8255-076A7EB53EFF}" type="presParOf" srcId="{E9510D14-BDC9-49A8-95B0-FC9EEE2424E0}" destId="{1F55066D-ECC0-45E6-A624-7762125D113E}" srcOrd="1" destOrd="0" presId="urn:microsoft.com/office/officeart/2005/8/layout/vProcess5"/>
    <dgm:cxn modelId="{F0E31002-E6B3-4342-96F9-22220A507DE6}" type="presParOf" srcId="{E9510D14-BDC9-49A8-95B0-FC9EEE2424E0}" destId="{AB8CF998-F82B-41B7-AD29-BC8E4CEBC040}" srcOrd="2" destOrd="0" presId="urn:microsoft.com/office/officeart/2005/8/layout/vProcess5"/>
    <dgm:cxn modelId="{685D3A68-AFBA-4C84-90F8-50C41EB91FCD}" type="presParOf" srcId="{E9510D14-BDC9-49A8-95B0-FC9EEE2424E0}" destId="{BE2CC683-2185-440B-AEA1-ED709F470788}" srcOrd="3" destOrd="0" presId="urn:microsoft.com/office/officeart/2005/8/layout/vProcess5"/>
    <dgm:cxn modelId="{2F3E6531-2382-490C-BA94-164F96A26AB7}" type="presParOf" srcId="{E9510D14-BDC9-49A8-95B0-FC9EEE2424E0}" destId="{81BCB7C4-3684-42A1-989A-11A0FC284FB1}" srcOrd="4" destOrd="0" presId="urn:microsoft.com/office/officeart/2005/8/layout/vProcess5"/>
    <dgm:cxn modelId="{A790BB6A-A5F9-4AA6-8F15-6F847099D467}" type="presParOf" srcId="{E9510D14-BDC9-49A8-95B0-FC9EEE2424E0}" destId="{5FE8D09E-1019-4EF7-B00F-023E1A26EA90}" srcOrd="5" destOrd="0" presId="urn:microsoft.com/office/officeart/2005/8/layout/vProcess5"/>
    <dgm:cxn modelId="{DDDE767F-C188-4AD0-938C-ACF0B0A4EF01}" type="presParOf" srcId="{E9510D14-BDC9-49A8-95B0-FC9EEE2424E0}" destId="{993AF401-FC87-48C9-96F9-AB061733CAB5}" srcOrd="6" destOrd="0" presId="urn:microsoft.com/office/officeart/2005/8/layout/vProcess5"/>
    <dgm:cxn modelId="{BEA0EC6D-F20B-4F12-8543-EAA29A5D38AE}" type="presParOf" srcId="{E9510D14-BDC9-49A8-95B0-FC9EEE2424E0}" destId="{EC0BD62B-2E9E-4471-A61E-861954953B47}" srcOrd="7" destOrd="0" presId="urn:microsoft.com/office/officeart/2005/8/layout/vProcess5"/>
    <dgm:cxn modelId="{46277A37-BD89-4F70-8948-8B40008A6B22}" type="presParOf" srcId="{E9510D14-BDC9-49A8-95B0-FC9EEE2424E0}" destId="{33CEABD8-D100-4A9B-A35B-1FB3E94646A2}" srcOrd="8" destOrd="0" presId="urn:microsoft.com/office/officeart/2005/8/layout/vProcess5"/>
    <dgm:cxn modelId="{15361AC9-AFDD-4EA0-BD5E-14E1529A4C34}" type="presParOf" srcId="{E9510D14-BDC9-49A8-95B0-FC9EEE2424E0}" destId="{A58893FE-297E-40A6-9665-7321863233EA}" srcOrd="9" destOrd="0" presId="urn:microsoft.com/office/officeart/2005/8/layout/vProcess5"/>
    <dgm:cxn modelId="{2EC091C4-0359-4009-892D-5CFC5B1A50DB}" type="presParOf" srcId="{E9510D14-BDC9-49A8-95B0-FC9EEE2424E0}" destId="{751F71A6-F7AF-4C66-9BF8-090CC2C68BD4}" srcOrd="10" destOrd="0" presId="urn:microsoft.com/office/officeart/2005/8/layout/vProcess5"/>
    <dgm:cxn modelId="{8089ADB0-A643-49D7-B0A3-526A188F1637}" type="presParOf" srcId="{E9510D14-BDC9-49A8-95B0-FC9EEE2424E0}" destId="{22259D63-30CE-47F1-A044-8E3DC60ABE5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6F38E1-02C6-40E4-AC82-B7830744A005}">
      <dsp:nvSpPr>
        <dsp:cNvPr id="0" name=""/>
        <dsp:cNvSpPr/>
      </dsp:nvSpPr>
      <dsp:spPr>
        <a:xfrm>
          <a:off x="782800" y="593336"/>
          <a:ext cx="1136499" cy="11364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2FA65F-E8A9-4731-92B2-3E24EB94DAFC}">
      <dsp:nvSpPr>
        <dsp:cNvPr id="0" name=""/>
        <dsp:cNvSpPr/>
      </dsp:nvSpPr>
      <dsp:spPr>
        <a:xfrm>
          <a:off x="88272" y="2106954"/>
          <a:ext cx="2525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Analyze Amazon-style working capital cycles using monthly operational data</a:t>
          </a:r>
        </a:p>
      </dsp:txBody>
      <dsp:txXfrm>
        <a:off x="88272" y="2106954"/>
        <a:ext cx="2525555" cy="720000"/>
      </dsp:txXfrm>
    </dsp:sp>
    <dsp:sp modelId="{1183ACF5-B998-4DD4-BF61-7AD44FD13DEF}">
      <dsp:nvSpPr>
        <dsp:cNvPr id="0" name=""/>
        <dsp:cNvSpPr/>
      </dsp:nvSpPr>
      <dsp:spPr>
        <a:xfrm>
          <a:off x="3750327" y="593336"/>
          <a:ext cx="1136499" cy="11364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2EBFB7-23D9-40C4-9899-3F9662CCC17D}">
      <dsp:nvSpPr>
        <dsp:cNvPr id="0" name=""/>
        <dsp:cNvSpPr/>
      </dsp:nvSpPr>
      <dsp:spPr>
        <a:xfrm>
          <a:off x="3055800" y="2106954"/>
          <a:ext cx="2525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Build a structured cash flow model (indirect method) tied to working capital</a:t>
          </a:r>
        </a:p>
      </dsp:txBody>
      <dsp:txXfrm>
        <a:off x="3055800" y="2106954"/>
        <a:ext cx="2525555" cy="720000"/>
      </dsp:txXfrm>
    </dsp:sp>
    <dsp:sp modelId="{901B1A9F-5C6F-47D9-A3B5-BC81C2E1BED1}">
      <dsp:nvSpPr>
        <dsp:cNvPr id="0" name=""/>
        <dsp:cNvSpPr/>
      </dsp:nvSpPr>
      <dsp:spPr>
        <a:xfrm>
          <a:off x="782800" y="3458342"/>
          <a:ext cx="1136499" cy="11364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A46988-DF08-4209-BB0B-EFBEB5F593A3}">
      <dsp:nvSpPr>
        <dsp:cNvPr id="0" name=""/>
        <dsp:cNvSpPr/>
      </dsp:nvSpPr>
      <dsp:spPr>
        <a:xfrm>
          <a:off x="88272" y="4971960"/>
          <a:ext cx="2525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Design an executive dashboard in Excel with key KPIs and visualizations</a:t>
          </a:r>
        </a:p>
      </dsp:txBody>
      <dsp:txXfrm>
        <a:off x="88272" y="4971960"/>
        <a:ext cx="2525555" cy="720000"/>
      </dsp:txXfrm>
    </dsp:sp>
    <dsp:sp modelId="{58B5172C-BB16-4313-9A54-0904A6DCF04A}">
      <dsp:nvSpPr>
        <dsp:cNvPr id="0" name=""/>
        <dsp:cNvSpPr/>
      </dsp:nvSpPr>
      <dsp:spPr>
        <a:xfrm>
          <a:off x="3750327" y="3458342"/>
          <a:ext cx="1136499" cy="11364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8C08E7-262F-4E35-9F3C-BD72AE417BF1}">
      <dsp:nvSpPr>
        <dsp:cNvPr id="0" name=""/>
        <dsp:cNvSpPr/>
      </dsp:nvSpPr>
      <dsp:spPr>
        <a:xfrm>
          <a:off x="3055800" y="4971960"/>
          <a:ext cx="2525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Generate insights for liquidity, efficiency, and free cash flow optimization</a:t>
          </a:r>
        </a:p>
      </dsp:txBody>
      <dsp:txXfrm>
        <a:off x="3055800" y="4971960"/>
        <a:ext cx="2525555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55066D-ECC0-45E6-A624-7762125D113E}">
      <dsp:nvSpPr>
        <dsp:cNvPr id="0" name=""/>
        <dsp:cNvSpPr/>
      </dsp:nvSpPr>
      <dsp:spPr>
        <a:xfrm>
          <a:off x="0" y="0"/>
          <a:ext cx="630936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Net working capital trend line across 12 months</a:t>
          </a:r>
        </a:p>
      </dsp:txBody>
      <dsp:txXfrm>
        <a:off x="28038" y="28038"/>
        <a:ext cx="5195473" cy="901218"/>
      </dsp:txXfrm>
    </dsp:sp>
    <dsp:sp modelId="{AB8CF998-F82B-41B7-AD29-BC8E4CEBC040}">
      <dsp:nvSpPr>
        <dsp:cNvPr id="0" name=""/>
        <dsp:cNvSpPr/>
      </dsp:nvSpPr>
      <dsp:spPr>
        <a:xfrm>
          <a:off x="528408" y="1131347"/>
          <a:ext cx="6309360" cy="95729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Revenue vs free cash flow dual-axis chart</a:t>
          </a:r>
        </a:p>
      </dsp:txBody>
      <dsp:txXfrm>
        <a:off x="556446" y="1159385"/>
        <a:ext cx="5102633" cy="901218"/>
      </dsp:txXfrm>
    </dsp:sp>
    <dsp:sp modelId="{BE2CC683-2185-440B-AEA1-ED709F470788}">
      <dsp:nvSpPr>
        <dsp:cNvPr id="0" name=""/>
        <dsp:cNvSpPr/>
      </dsp:nvSpPr>
      <dsp:spPr>
        <a:xfrm>
          <a:off x="1048931" y="2262695"/>
          <a:ext cx="6309360" cy="9572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Breakdown of AR, Inventory, and AP over time</a:t>
          </a:r>
        </a:p>
      </dsp:txBody>
      <dsp:txXfrm>
        <a:off x="1076969" y="2290733"/>
        <a:ext cx="5110520" cy="901218"/>
      </dsp:txXfrm>
    </dsp:sp>
    <dsp:sp modelId="{81BCB7C4-3684-42A1-989A-11A0FC284FB1}">
      <dsp:nvSpPr>
        <dsp:cNvPr id="0" name=""/>
        <dsp:cNvSpPr/>
      </dsp:nvSpPr>
      <dsp:spPr>
        <a:xfrm>
          <a:off x="1577340" y="3394043"/>
          <a:ext cx="6309360" cy="95729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Summary KPI panel: total revenue, average NWC, total free cash flow</a:t>
          </a:r>
        </a:p>
      </dsp:txBody>
      <dsp:txXfrm>
        <a:off x="1605378" y="3422081"/>
        <a:ext cx="5102633" cy="901218"/>
      </dsp:txXfrm>
    </dsp:sp>
    <dsp:sp modelId="{5FE8D09E-1019-4EF7-B00F-023E1A26EA90}">
      <dsp:nvSpPr>
        <dsp:cNvPr id="0" name=""/>
        <dsp:cNvSpPr/>
      </dsp:nvSpPr>
      <dsp:spPr>
        <a:xfrm>
          <a:off x="568711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827122" y="733200"/>
        <a:ext cx="342233" cy="468236"/>
      </dsp:txXfrm>
    </dsp:sp>
    <dsp:sp modelId="{993AF401-FC87-48C9-96F9-AB061733CAB5}">
      <dsp:nvSpPr>
        <dsp:cNvPr id="0" name=""/>
        <dsp:cNvSpPr/>
      </dsp:nvSpPr>
      <dsp:spPr>
        <a:xfrm>
          <a:off x="6215527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355531" y="1864548"/>
        <a:ext cx="342233" cy="468236"/>
      </dsp:txXfrm>
    </dsp:sp>
    <dsp:sp modelId="{EC0BD62B-2E9E-4471-A61E-861954953B47}">
      <dsp:nvSpPr>
        <dsp:cNvPr id="0" name=""/>
        <dsp:cNvSpPr/>
      </dsp:nvSpPr>
      <dsp:spPr>
        <a:xfrm>
          <a:off x="6736049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876053" y="2995896"/>
        <a:ext cx="342233" cy="468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iniature bull and bear percentages on a paper printed with the stock price list">
            <a:extLst>
              <a:ext uri="{FF2B5EF4-FFF2-40B4-BE49-F238E27FC236}">
                <a16:creationId xmlns:a16="http://schemas.microsoft.com/office/drawing/2014/main" id="{213229BC-563E-1BF4-844F-F045766DBA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6" b="-2"/>
          <a:stretch>
            <a:fillRect/>
          </a:stretch>
        </p:blipFill>
        <p:spPr>
          <a:xfrm>
            <a:off x="-2585" y="-1"/>
            <a:ext cx="9146585" cy="687974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064451" y="791834"/>
            <a:ext cx="3020876" cy="9154947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567EA8-C72D-4B9B-D23F-6B2E9F9C9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584" y="0"/>
            <a:ext cx="2132551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FBFA78-9360-1E01-5448-6D5AE0A32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779028" y="21736"/>
            <a:ext cx="2364646" cy="6858008"/>
          </a:xfrm>
          <a:prstGeom prst="rect">
            <a:avLst/>
          </a:prstGeom>
          <a:gradFill flip="none" rotWithShape="1">
            <a:gsLst>
              <a:gs pos="5000">
                <a:schemeClr val="accent5">
                  <a:alpha val="48000"/>
                </a:schemeClr>
              </a:gs>
              <a:gs pos="42000">
                <a:schemeClr val="accent5">
                  <a:alpha val="0"/>
                </a:schemeClr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40453C-744F-DB3A-47EC-15EACE1DC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585" y="5288433"/>
            <a:ext cx="9149779" cy="1591311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9000">
                <a:schemeClr val="accent2">
                  <a:alpha val="0"/>
                </a:schemeClr>
              </a:gs>
            </a:gsLst>
            <a:lin ang="588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924B03-77BD-EAE3-2854-43363FF8E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5100" y="2905286"/>
            <a:ext cx="3866773" cy="4082144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4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4271" y="4121944"/>
            <a:ext cx="5945838" cy="1620665"/>
          </a:xfrm>
        </p:spPr>
        <p:txBody>
          <a:bodyPr>
            <a:normAutofit/>
          </a:bodyPr>
          <a:lstStyle/>
          <a:p>
            <a:pPr algn="l"/>
            <a:r>
              <a:rPr lang="en-US" sz="3500">
                <a:solidFill>
                  <a:srgbClr val="FFFFFF"/>
                </a:solidFill>
              </a:rPr>
              <a:t>Amazon Working Capital &amp; Cash Flow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4271" y="5737867"/>
            <a:ext cx="5956785" cy="618479"/>
          </a:xfrm>
        </p:spPr>
        <p:txBody>
          <a:bodyPr>
            <a:normAutofit/>
          </a:bodyPr>
          <a:lstStyle/>
          <a:p>
            <a:pPr algn="l"/>
            <a:r>
              <a:rPr lang="en-US" sz="1700">
                <a:solidFill>
                  <a:srgbClr val="FFFFFF"/>
                </a:solidFill>
              </a:rPr>
              <a:t>Financial Analyst Project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 fill">
            <a:extLst>
              <a:ext uri="{FF2B5EF4-FFF2-40B4-BE49-F238E27FC236}">
                <a16:creationId xmlns:a16="http://schemas.microsoft.com/office/drawing/2014/main" id="{CB49665F-0298-4449-8D2D-209989CB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olor 2">
            <a:extLst>
              <a:ext uri="{FF2B5EF4-FFF2-40B4-BE49-F238E27FC236}">
                <a16:creationId xmlns:a16="http://schemas.microsoft.com/office/drawing/2014/main" id="{A71EEC14-174A-46FA-B046-474750457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EB6CB95-E653-4C6C-AE51-62FD848E8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16" y="-2"/>
            <a:ext cx="2601176" cy="6858000"/>
            <a:chOff x="651279" y="598259"/>
            <a:chExt cx="10889442" cy="5680742"/>
          </a:xfrm>
        </p:grpSpPr>
        <p:sp>
          <p:nvSpPr>
            <p:cNvPr id="23" name="Color">
              <a:extLst>
                <a:ext uri="{FF2B5EF4-FFF2-40B4-BE49-F238E27FC236}">
                  <a16:creationId xmlns:a16="http://schemas.microsoft.com/office/drawing/2014/main" id="{BDD3CB8E-ABA7-4F37-BB2C-64FFD1981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Color">
              <a:extLst>
                <a:ext uri="{FF2B5EF4-FFF2-40B4-BE49-F238E27FC236}">
                  <a16:creationId xmlns:a16="http://schemas.microsoft.com/office/drawing/2014/main" id="{C2CA788A-B2FD-494C-BED0-83E31F6DF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994410" y="1947672"/>
            <a:ext cx="4471416" cy="2788920"/>
          </a:xfrm>
        </p:spPr>
        <p:txBody>
          <a:bodyPr anchor="ctr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Project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38BA88-8703-254A-AA8A-EB4AE11CA2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8238813"/>
              </p:ext>
            </p:extLst>
          </p:nvPr>
        </p:nvGraphicFramePr>
        <p:xfrm>
          <a:off x="2845722" y="288758"/>
          <a:ext cx="5669628" cy="6285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8975B27-B012-4DF9-810E-D0C8DF1A0AF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Dashboard Highlights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FA2384-D95F-38B7-4503-E1E5EAED6A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210972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100</Words>
  <Application>Microsoft Office PowerPoint</Application>
  <PresentationFormat>On-screen Show (4:3)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Amazon Working Capital &amp; Cash Flow Analysis</vt:lpstr>
      <vt:lpstr>Project Objectives</vt:lpstr>
      <vt:lpstr>Dashboard Highlights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Vinayak Dighe</dc:creator>
  <cp:keywords/>
  <dc:description>generated using python-pptx</dc:description>
  <cp:lastModifiedBy>Vinayak Dighe</cp:lastModifiedBy>
  <cp:revision>2</cp:revision>
  <dcterms:created xsi:type="dcterms:W3CDTF">2013-01-27T09:14:16Z</dcterms:created>
  <dcterms:modified xsi:type="dcterms:W3CDTF">2025-12-14T17:02:23Z</dcterms:modified>
  <cp:category/>
</cp:coreProperties>
</file>